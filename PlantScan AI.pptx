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Inter" panose="020B0604020202020204" charset="0"/>
      <p:regular r:id="rId10"/>
      <p:bold r:id="rId11"/>
      <p:italic r:id="rId12"/>
      <p:boldItalic r:id="rId13"/>
    </p:embeddedFont>
    <p:embeddedFont>
      <p:font typeface="Inter SemiBold"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8.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770584" y="3047107"/>
            <a:ext cx="6650831"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FFFFFF"/>
                </a:solidFill>
                <a:latin typeface="Inter"/>
                <a:ea typeface="Inter"/>
                <a:cs typeface="Inter"/>
                <a:sym typeface="Inter"/>
              </a:rPr>
              <a:t>PlantScan AI</a:t>
            </a:r>
            <a:endParaRPr/>
          </a:p>
        </p:txBody>
      </p:sp>
      <p:sp>
        <p:nvSpPr>
          <p:cNvPr id="86" name="Google Shape;86;p13"/>
          <p:cNvSpPr txBox="1"/>
          <p:nvPr/>
        </p:nvSpPr>
        <p:spPr>
          <a:xfrm>
            <a:off x="2928937" y="4047232"/>
            <a:ext cx="633412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86EFAC"/>
                </a:solidFill>
                <a:latin typeface="Inter"/>
                <a:ea typeface="Inter"/>
                <a:cs typeface="Inter"/>
                <a:sym typeface="Inter"/>
              </a:rPr>
              <a:t>Instantly detect and diagnose plant diseases with high accuracy.</a:t>
            </a:r>
            <a:endParaRPr/>
          </a:p>
        </p:txBody>
      </p:sp>
      <p:pic>
        <p:nvPicPr>
          <p:cNvPr id="87" name="Google Shape;87;p13" descr="image.png"/>
          <p:cNvPicPr preferRelativeResize="0"/>
          <p:nvPr/>
        </p:nvPicPr>
        <p:blipFill rotWithShape="1">
          <a:blip r:embed="rId4">
            <a:alphaModFix/>
          </a:blip>
          <a:srcRect/>
          <a:stretch/>
        </p:blipFill>
        <p:spPr>
          <a:xfrm>
            <a:off x="5810250" y="2285107"/>
            <a:ext cx="571500" cy="5715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81025" y="1897707"/>
            <a:ext cx="5276850" cy="3957786"/>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6334125" y="1897707"/>
            <a:ext cx="5276850" cy="3810000"/>
          </a:xfrm>
          <a:prstGeom prst="rect">
            <a:avLst/>
          </a:prstGeom>
          <a:noFill/>
          <a:ln>
            <a:noFill/>
          </a:ln>
        </p:spPr>
      </p:pic>
      <p:sp>
        <p:nvSpPr>
          <p:cNvPr id="95" name="Google Shape;95;p14"/>
          <p:cNvSpPr txBox="1"/>
          <p:nvPr/>
        </p:nvSpPr>
        <p:spPr>
          <a:xfrm>
            <a:off x="1209675" y="2288232"/>
            <a:ext cx="42576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The Challenge:</a:t>
            </a:r>
            <a:r>
              <a:rPr lang="en-US" sz="1425" b="0" i="0" u="none" strike="noStrike" cap="none">
                <a:solidFill>
                  <a:srgbClr val="A3B8A8"/>
                </a:solidFill>
                <a:latin typeface="Inter"/>
                <a:ea typeface="Inter"/>
                <a:cs typeface="Inter"/>
                <a:sym typeface="Inter"/>
              </a:rPr>
              <a:t> Rapid and accurate identification of crop diseases is difficult but critical for yield preservation and sustainable farming.</a:t>
            </a:r>
            <a:endParaRPr/>
          </a:p>
        </p:txBody>
      </p:sp>
      <p:sp>
        <p:nvSpPr>
          <p:cNvPr id="96" name="Google Shape;96;p14"/>
          <p:cNvSpPr txBox="1"/>
          <p:nvPr/>
        </p:nvSpPr>
        <p:spPr>
          <a:xfrm>
            <a:off x="1209675" y="3347144"/>
            <a:ext cx="42576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The Solution:</a:t>
            </a:r>
            <a:r>
              <a:rPr lang="en-US" sz="1425" b="0" i="0" u="none" strike="noStrike" cap="none">
                <a:solidFill>
                  <a:srgbClr val="A3B8A8"/>
                </a:solidFill>
                <a:latin typeface="Inter"/>
                <a:ea typeface="Inter"/>
                <a:cs typeface="Inter"/>
                <a:sym typeface="Inter"/>
              </a:rPr>
              <a:t> PlantScan AI is an advanced dashboard providing real-time disease analysis across 38 distinct plant and disease classes.</a:t>
            </a:r>
            <a:endParaRPr/>
          </a:p>
        </p:txBody>
      </p:sp>
      <p:sp>
        <p:nvSpPr>
          <p:cNvPr id="97" name="Google Shape;97;p14"/>
          <p:cNvSpPr txBox="1"/>
          <p:nvPr/>
        </p:nvSpPr>
        <p:spPr>
          <a:xfrm>
            <a:off x="1209675" y="4406056"/>
            <a:ext cx="42576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Beyond Detection:</a:t>
            </a:r>
            <a:r>
              <a:rPr lang="en-US" sz="1425" b="0" i="0" u="none" strike="noStrike" cap="none">
                <a:solidFill>
                  <a:srgbClr val="A3B8A8"/>
                </a:solidFill>
                <a:latin typeface="Inter"/>
                <a:ea typeface="Inter"/>
                <a:cs typeface="Inter"/>
                <a:sym typeface="Inter"/>
              </a:rPr>
              <a:t> Integrates generative AI to provide immediate, actionable treatment and proactive prevention plans.</a:t>
            </a:r>
            <a:endParaRPr/>
          </a:p>
        </p:txBody>
      </p:sp>
      <p:pic>
        <p:nvPicPr>
          <p:cNvPr id="98" name="Google Shape;98;p14" descr="image.png"/>
          <p:cNvPicPr preferRelativeResize="0"/>
          <p:nvPr/>
        </p:nvPicPr>
        <p:blipFill rotWithShape="1">
          <a:blip r:embed="rId6">
            <a:alphaModFix/>
          </a:blip>
          <a:srcRect/>
          <a:stretch/>
        </p:blipFill>
        <p:spPr>
          <a:xfrm>
            <a:off x="6343650" y="1907232"/>
            <a:ext cx="5257800" cy="3790950"/>
          </a:xfrm>
          <a:prstGeom prst="rect">
            <a:avLst/>
          </a:prstGeom>
          <a:noFill/>
          <a:ln>
            <a:noFill/>
          </a:ln>
        </p:spPr>
      </p:pic>
      <p:sp>
        <p:nvSpPr>
          <p:cNvPr id="99" name="Google Shape;99;p14"/>
          <p:cNvSpPr txBox="1"/>
          <p:nvPr/>
        </p:nvSpPr>
        <p:spPr>
          <a:xfrm>
            <a:off x="971550" y="2250132"/>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00" name="Google Shape;100;p14"/>
          <p:cNvSpPr txBox="1"/>
          <p:nvPr/>
        </p:nvSpPr>
        <p:spPr>
          <a:xfrm>
            <a:off x="971550" y="3309044"/>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01" name="Google Shape;101;p14"/>
          <p:cNvSpPr txBox="1"/>
          <p:nvPr/>
        </p:nvSpPr>
        <p:spPr>
          <a:xfrm>
            <a:off x="971550" y="4367956"/>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02" name="Google Shape;102;p14"/>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4ADE80"/>
                </a:solidFill>
                <a:latin typeface="Inter"/>
                <a:ea typeface="Inter"/>
                <a:cs typeface="Inter"/>
                <a:sym typeface="Inter"/>
              </a:rPr>
              <a:t>Empowering Agriculture with AI</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581025" y="1729978"/>
            <a:ext cx="3422600" cy="4293244"/>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4384625" y="1729978"/>
            <a:ext cx="3422600" cy="4293244"/>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8188225" y="1729978"/>
            <a:ext cx="3422600" cy="4293244"/>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971550" y="2120503"/>
            <a:ext cx="666750" cy="666750"/>
          </a:xfrm>
          <a:prstGeom prst="rect">
            <a:avLst/>
          </a:prstGeom>
          <a:noFill/>
          <a:ln>
            <a:noFill/>
          </a:ln>
        </p:spPr>
      </p:pic>
      <p:sp>
        <p:nvSpPr>
          <p:cNvPr id="112" name="Google Shape;112;p15"/>
          <p:cNvSpPr txBox="1"/>
          <p:nvPr/>
        </p:nvSpPr>
        <p:spPr>
          <a:xfrm>
            <a:off x="971550" y="3025378"/>
            <a:ext cx="2760345"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Frontend Presentation</a:t>
            </a:r>
            <a:endParaRPr/>
          </a:p>
        </p:txBody>
      </p:sp>
      <p:sp>
        <p:nvSpPr>
          <p:cNvPr id="113" name="Google Shape;113;p15"/>
          <p:cNvSpPr txBox="1"/>
          <p:nvPr/>
        </p:nvSpPr>
        <p:spPr>
          <a:xfrm>
            <a:off x="971550" y="3463528"/>
            <a:ext cx="2641550" cy="173682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Built on React (Vite) with a state-of-the-art glassmorphism interface. Utilizes dynamic fluid overlays and GPU frame buffers for immersive user interaction.</a:t>
            </a:r>
            <a:endParaRPr/>
          </a:p>
        </p:txBody>
      </p:sp>
      <p:pic>
        <p:nvPicPr>
          <p:cNvPr id="114" name="Google Shape;114;p15" descr="image.png"/>
          <p:cNvPicPr preferRelativeResize="0"/>
          <p:nvPr/>
        </p:nvPicPr>
        <p:blipFill rotWithShape="1">
          <a:blip r:embed="rId6">
            <a:alphaModFix/>
          </a:blip>
          <a:srcRect/>
          <a:stretch/>
        </p:blipFill>
        <p:spPr>
          <a:xfrm>
            <a:off x="4775150" y="2120503"/>
            <a:ext cx="666750" cy="666750"/>
          </a:xfrm>
          <a:prstGeom prst="rect">
            <a:avLst/>
          </a:prstGeom>
          <a:noFill/>
          <a:ln>
            <a:noFill/>
          </a:ln>
        </p:spPr>
      </p:pic>
      <p:sp>
        <p:nvSpPr>
          <p:cNvPr id="115" name="Google Shape;115;p15"/>
          <p:cNvSpPr txBox="1"/>
          <p:nvPr/>
        </p:nvSpPr>
        <p:spPr>
          <a:xfrm>
            <a:off x="4775150" y="3025378"/>
            <a:ext cx="2250281"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Backend Gateway</a:t>
            </a:r>
            <a:endParaRPr/>
          </a:p>
        </p:txBody>
      </p:sp>
      <p:sp>
        <p:nvSpPr>
          <p:cNvPr id="116" name="Google Shape;116;p15"/>
          <p:cNvSpPr txBox="1"/>
          <p:nvPr/>
        </p:nvSpPr>
        <p:spPr>
          <a:xfrm>
            <a:off x="4775150" y="3463528"/>
            <a:ext cx="2641550" cy="202629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High-throughput FastAPI microservice resolving concurrent processing streams. Features dynamic transforms matching static pre-training normalization stats.</a:t>
            </a:r>
            <a:endParaRPr/>
          </a:p>
        </p:txBody>
      </p:sp>
      <p:pic>
        <p:nvPicPr>
          <p:cNvPr id="117" name="Google Shape;117;p15" descr="image.png"/>
          <p:cNvPicPr preferRelativeResize="0"/>
          <p:nvPr/>
        </p:nvPicPr>
        <p:blipFill rotWithShape="1">
          <a:blip r:embed="rId7">
            <a:alphaModFix/>
          </a:blip>
          <a:srcRect/>
          <a:stretch/>
        </p:blipFill>
        <p:spPr>
          <a:xfrm>
            <a:off x="8578750" y="2120503"/>
            <a:ext cx="666750" cy="666750"/>
          </a:xfrm>
          <a:prstGeom prst="rect">
            <a:avLst/>
          </a:prstGeom>
          <a:noFill/>
          <a:ln>
            <a:noFill/>
          </a:ln>
        </p:spPr>
      </p:pic>
      <p:sp>
        <p:nvSpPr>
          <p:cNvPr id="118" name="Google Shape;118;p15"/>
          <p:cNvSpPr txBox="1"/>
          <p:nvPr/>
        </p:nvSpPr>
        <p:spPr>
          <a:xfrm>
            <a:off x="8578750" y="3025378"/>
            <a:ext cx="224028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Inference Engines</a:t>
            </a:r>
            <a:endParaRPr/>
          </a:p>
        </p:txBody>
      </p:sp>
      <p:sp>
        <p:nvSpPr>
          <p:cNvPr id="119" name="Google Shape;119;p15"/>
          <p:cNvSpPr txBox="1"/>
          <p:nvPr/>
        </p:nvSpPr>
        <p:spPr>
          <a:xfrm>
            <a:off x="8578750" y="3463528"/>
            <a:ext cx="2641550" cy="173682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Dual loading environments supporting both TensorFlow (Keras) and PyTorch weights seamlessly, ensuring hot-swappable AI inference without latency.</a:t>
            </a:r>
            <a:endParaRPr/>
          </a:p>
        </p:txBody>
      </p:sp>
      <p:pic>
        <p:nvPicPr>
          <p:cNvPr id="120" name="Google Shape;120;p15" descr="image.png"/>
          <p:cNvPicPr preferRelativeResize="0"/>
          <p:nvPr/>
        </p:nvPicPr>
        <p:blipFill rotWithShape="1">
          <a:blip r:embed="rId8">
            <a:alphaModFix/>
          </a:blip>
          <a:srcRect/>
          <a:stretch/>
        </p:blipFill>
        <p:spPr>
          <a:xfrm>
            <a:off x="1090612" y="2263378"/>
            <a:ext cx="428625" cy="381000"/>
          </a:xfrm>
          <a:prstGeom prst="rect">
            <a:avLst/>
          </a:prstGeom>
          <a:noFill/>
          <a:ln>
            <a:noFill/>
          </a:ln>
        </p:spPr>
      </p:pic>
      <p:pic>
        <p:nvPicPr>
          <p:cNvPr id="121" name="Google Shape;121;p15" descr="image.png"/>
          <p:cNvPicPr preferRelativeResize="0"/>
          <p:nvPr/>
        </p:nvPicPr>
        <p:blipFill rotWithShape="1">
          <a:blip r:embed="rId9">
            <a:alphaModFix/>
          </a:blip>
          <a:srcRect/>
          <a:stretch/>
        </p:blipFill>
        <p:spPr>
          <a:xfrm>
            <a:off x="4918025" y="2263378"/>
            <a:ext cx="381000" cy="381000"/>
          </a:xfrm>
          <a:prstGeom prst="rect">
            <a:avLst/>
          </a:prstGeom>
          <a:noFill/>
          <a:ln>
            <a:noFill/>
          </a:ln>
        </p:spPr>
      </p:pic>
      <p:pic>
        <p:nvPicPr>
          <p:cNvPr id="122" name="Google Shape;122;p15" descr="image.png"/>
          <p:cNvPicPr preferRelativeResize="0"/>
          <p:nvPr/>
        </p:nvPicPr>
        <p:blipFill rotWithShape="1">
          <a:blip r:embed="rId10">
            <a:alphaModFix/>
          </a:blip>
          <a:srcRect/>
          <a:stretch/>
        </p:blipFill>
        <p:spPr>
          <a:xfrm>
            <a:off x="8721625" y="2263378"/>
            <a:ext cx="381000" cy="381000"/>
          </a:xfrm>
          <a:prstGeom prst="rect">
            <a:avLst/>
          </a:prstGeom>
          <a:noFill/>
          <a:ln>
            <a:noFill/>
          </a:ln>
        </p:spPr>
      </p:pic>
      <p:sp>
        <p:nvSpPr>
          <p:cNvPr id="123" name="Google Shape;123;p15"/>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4ADE80"/>
                </a:solidFill>
                <a:latin typeface="Inter"/>
                <a:ea typeface="Inter"/>
                <a:cs typeface="Inter"/>
                <a:sym typeface="Inter"/>
              </a:rPr>
              <a:t>Modern Microservice Architecture</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581025" y="1948011"/>
            <a:ext cx="3422600" cy="3857178"/>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4384625" y="1948011"/>
            <a:ext cx="3422600" cy="3857178"/>
          </a:xfrm>
          <a:prstGeom prst="rect">
            <a:avLst/>
          </a:prstGeom>
          <a:noFill/>
          <a:ln>
            <a:noFill/>
          </a:ln>
        </p:spPr>
      </p:pic>
      <p:pic>
        <p:nvPicPr>
          <p:cNvPr id="131" name="Google Shape;131;p16" descr="image.png"/>
          <p:cNvPicPr preferRelativeResize="0"/>
          <p:nvPr/>
        </p:nvPicPr>
        <p:blipFill rotWithShape="1">
          <a:blip r:embed="rId5">
            <a:alphaModFix/>
          </a:blip>
          <a:srcRect/>
          <a:stretch/>
        </p:blipFill>
        <p:spPr>
          <a:xfrm>
            <a:off x="8188225" y="1852761"/>
            <a:ext cx="3422600" cy="3857178"/>
          </a:xfrm>
          <a:prstGeom prst="rect">
            <a:avLst/>
          </a:prstGeom>
          <a:noFill/>
          <a:ln>
            <a:noFill/>
          </a:ln>
        </p:spPr>
      </p:pic>
      <p:pic>
        <p:nvPicPr>
          <p:cNvPr id="132" name="Google Shape;132;p16" descr="image.png"/>
          <p:cNvPicPr preferRelativeResize="0"/>
          <p:nvPr/>
        </p:nvPicPr>
        <p:blipFill rotWithShape="1">
          <a:blip r:embed="rId6">
            <a:alphaModFix/>
          </a:blip>
          <a:srcRect/>
          <a:stretch/>
        </p:blipFill>
        <p:spPr>
          <a:xfrm>
            <a:off x="971550" y="2338536"/>
            <a:ext cx="666750" cy="666750"/>
          </a:xfrm>
          <a:prstGeom prst="rect">
            <a:avLst/>
          </a:prstGeom>
          <a:noFill/>
          <a:ln>
            <a:noFill/>
          </a:ln>
        </p:spPr>
      </p:pic>
      <p:sp>
        <p:nvSpPr>
          <p:cNvPr id="133" name="Google Shape;133;p16"/>
          <p:cNvSpPr txBox="1"/>
          <p:nvPr/>
        </p:nvSpPr>
        <p:spPr>
          <a:xfrm>
            <a:off x="971550" y="3243411"/>
            <a:ext cx="2440305"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TensorFlow (Keras)</a:t>
            </a:r>
            <a:endParaRPr/>
          </a:p>
        </p:txBody>
      </p:sp>
      <p:sp>
        <p:nvSpPr>
          <p:cNvPr id="134" name="Google Shape;134;p16"/>
          <p:cNvSpPr txBox="1"/>
          <p:nvPr/>
        </p:nvSpPr>
        <p:spPr>
          <a:xfrm>
            <a:off x="971550" y="3681561"/>
            <a:ext cx="26415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Architecture:</a:t>
            </a:r>
            <a:r>
              <a:rPr lang="en-US" sz="1425" b="0" i="0" u="none" strike="noStrike" cap="none">
                <a:solidFill>
                  <a:srgbClr val="A3B8A8"/>
                </a:solidFill>
                <a:latin typeface="Inter"/>
                <a:ea typeface="Inter"/>
                <a:cs typeface="Inter"/>
                <a:sym typeface="Inter"/>
              </a:rPr>
              <a:t> Custom CNN Backbone optimized for standard CPU/GPU metrics.</a:t>
            </a:r>
            <a:endParaRPr/>
          </a:p>
        </p:txBody>
      </p:sp>
      <p:sp>
        <p:nvSpPr>
          <p:cNvPr id="135" name="Google Shape;135;p16"/>
          <p:cNvSpPr txBox="1"/>
          <p:nvPr/>
        </p:nvSpPr>
        <p:spPr>
          <a:xfrm>
            <a:off x="971550" y="4692848"/>
            <a:ext cx="26415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Benchmark:</a:t>
            </a:r>
            <a:r>
              <a:rPr lang="en-US" sz="1425" b="0" i="0" u="none" strike="noStrike" cap="none">
                <a:solidFill>
                  <a:srgbClr val="A3B8A8"/>
                </a:solidFill>
                <a:latin typeface="Inter"/>
                <a:ea typeface="Inter"/>
                <a:cs typeface="Inter"/>
                <a:sym typeface="Inter"/>
              </a:rPr>
              <a:t> ~89.00% Validation Accuracy</a:t>
            </a:r>
            <a:endParaRPr/>
          </a:p>
        </p:txBody>
      </p:sp>
      <p:pic>
        <p:nvPicPr>
          <p:cNvPr id="136" name="Google Shape;136;p16" descr="image.png"/>
          <p:cNvPicPr preferRelativeResize="0"/>
          <p:nvPr/>
        </p:nvPicPr>
        <p:blipFill rotWithShape="1">
          <a:blip r:embed="rId7">
            <a:alphaModFix/>
          </a:blip>
          <a:srcRect/>
          <a:stretch/>
        </p:blipFill>
        <p:spPr>
          <a:xfrm>
            <a:off x="4775150" y="2338536"/>
            <a:ext cx="666750" cy="666750"/>
          </a:xfrm>
          <a:prstGeom prst="rect">
            <a:avLst/>
          </a:prstGeom>
          <a:noFill/>
          <a:ln>
            <a:noFill/>
          </a:ln>
        </p:spPr>
      </p:pic>
      <p:sp>
        <p:nvSpPr>
          <p:cNvPr id="137" name="Google Shape;137;p16"/>
          <p:cNvSpPr txBox="1"/>
          <p:nvPr/>
        </p:nvSpPr>
        <p:spPr>
          <a:xfrm>
            <a:off x="4775150" y="3243411"/>
            <a:ext cx="1900237"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PyTorch (Base)</a:t>
            </a:r>
            <a:endParaRPr/>
          </a:p>
        </p:txBody>
      </p:sp>
      <p:sp>
        <p:nvSpPr>
          <p:cNvPr id="138" name="Google Shape;138;p16"/>
          <p:cNvSpPr txBox="1"/>
          <p:nvPr/>
        </p:nvSpPr>
        <p:spPr>
          <a:xfrm>
            <a:off x="4775150" y="3681561"/>
            <a:ext cx="26415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Architecture:</a:t>
            </a:r>
            <a:r>
              <a:rPr lang="en-US" sz="1425" b="0" i="0" u="none" strike="noStrike" cap="none">
                <a:solidFill>
                  <a:srgbClr val="A3B8A8"/>
                </a:solidFill>
                <a:latin typeface="Inter"/>
                <a:ea typeface="Inter"/>
                <a:cs typeface="Inter"/>
                <a:sym typeface="Inter"/>
              </a:rPr>
              <a:t> EfficientNetV2-S with rigid static frame pre-training weights.</a:t>
            </a:r>
            <a:endParaRPr/>
          </a:p>
        </p:txBody>
      </p:sp>
      <p:sp>
        <p:nvSpPr>
          <p:cNvPr id="139" name="Google Shape;139;p16"/>
          <p:cNvSpPr txBox="1"/>
          <p:nvPr/>
        </p:nvSpPr>
        <p:spPr>
          <a:xfrm>
            <a:off x="4775150" y="4692848"/>
            <a:ext cx="26415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Benchmark:</a:t>
            </a:r>
            <a:r>
              <a:rPr lang="en-US" sz="1425" b="0" i="0" u="none" strike="noStrike" cap="none">
                <a:solidFill>
                  <a:srgbClr val="A3B8A8"/>
                </a:solidFill>
                <a:latin typeface="Inter"/>
                <a:ea typeface="Inter"/>
                <a:cs typeface="Inter"/>
                <a:sym typeface="Inter"/>
              </a:rPr>
              <a:t> 89.54% Static Frame Accuracy</a:t>
            </a:r>
            <a:endParaRPr/>
          </a:p>
        </p:txBody>
      </p:sp>
      <p:pic>
        <p:nvPicPr>
          <p:cNvPr id="140" name="Google Shape;140;p16" descr="image.png"/>
          <p:cNvPicPr preferRelativeResize="0"/>
          <p:nvPr/>
        </p:nvPicPr>
        <p:blipFill rotWithShape="1">
          <a:blip r:embed="rId8">
            <a:alphaModFix/>
          </a:blip>
          <a:srcRect/>
          <a:stretch/>
        </p:blipFill>
        <p:spPr>
          <a:xfrm>
            <a:off x="8578750" y="2243286"/>
            <a:ext cx="666750" cy="666750"/>
          </a:xfrm>
          <a:prstGeom prst="rect">
            <a:avLst/>
          </a:prstGeom>
          <a:noFill/>
          <a:ln>
            <a:noFill/>
          </a:ln>
        </p:spPr>
      </p:pic>
      <p:sp>
        <p:nvSpPr>
          <p:cNvPr id="141" name="Google Shape;141;p16"/>
          <p:cNvSpPr txBox="1"/>
          <p:nvPr/>
        </p:nvSpPr>
        <p:spPr>
          <a:xfrm>
            <a:off x="8578750" y="3148161"/>
            <a:ext cx="1990248"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4ADE80"/>
                </a:solidFill>
                <a:latin typeface="Inter SemiBold"/>
                <a:ea typeface="Inter SemiBold"/>
                <a:cs typeface="Inter SemiBold"/>
                <a:sym typeface="Inter SemiBold"/>
              </a:rPr>
              <a:t>PyTorch (SOTA)</a:t>
            </a:r>
            <a:endParaRPr/>
          </a:p>
        </p:txBody>
      </p:sp>
      <p:sp>
        <p:nvSpPr>
          <p:cNvPr id="142" name="Google Shape;142;p16"/>
          <p:cNvSpPr txBox="1"/>
          <p:nvPr/>
        </p:nvSpPr>
        <p:spPr>
          <a:xfrm>
            <a:off x="8578750" y="3586311"/>
            <a:ext cx="26415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Architecture:</a:t>
            </a:r>
            <a:r>
              <a:rPr lang="en-US" sz="1425" b="0" i="0" u="none" strike="noStrike" cap="none">
                <a:solidFill>
                  <a:srgbClr val="A3B8A8"/>
                </a:solidFill>
                <a:latin typeface="Inter"/>
                <a:ea typeface="Inter"/>
                <a:cs typeface="Inter"/>
                <a:sym typeface="Inter"/>
              </a:rPr>
              <a:t> EfficientNetV2-S Fully Un-fused Fine-Tuned network.</a:t>
            </a:r>
            <a:endParaRPr/>
          </a:p>
        </p:txBody>
      </p:sp>
      <p:sp>
        <p:nvSpPr>
          <p:cNvPr id="143" name="Google Shape;143;p16"/>
          <p:cNvSpPr txBox="1"/>
          <p:nvPr/>
        </p:nvSpPr>
        <p:spPr>
          <a:xfrm>
            <a:off x="8578750" y="4597598"/>
            <a:ext cx="26415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Benchmark: 99.63% Peak Inference Accuracy</a:t>
            </a:r>
            <a:endParaRPr/>
          </a:p>
        </p:txBody>
      </p:sp>
      <p:pic>
        <p:nvPicPr>
          <p:cNvPr id="144" name="Google Shape;144;p16" descr="image.png"/>
          <p:cNvPicPr preferRelativeResize="0"/>
          <p:nvPr/>
        </p:nvPicPr>
        <p:blipFill rotWithShape="1">
          <a:blip r:embed="rId9">
            <a:alphaModFix/>
          </a:blip>
          <a:srcRect/>
          <a:stretch/>
        </p:blipFill>
        <p:spPr>
          <a:xfrm>
            <a:off x="1090612" y="2481411"/>
            <a:ext cx="428625" cy="381000"/>
          </a:xfrm>
          <a:prstGeom prst="rect">
            <a:avLst/>
          </a:prstGeom>
          <a:noFill/>
          <a:ln>
            <a:noFill/>
          </a:ln>
        </p:spPr>
      </p:pic>
      <p:pic>
        <p:nvPicPr>
          <p:cNvPr id="145" name="Google Shape;145;p16" descr="image.png"/>
          <p:cNvPicPr preferRelativeResize="0"/>
          <p:nvPr/>
        </p:nvPicPr>
        <p:blipFill rotWithShape="1">
          <a:blip r:embed="rId10">
            <a:alphaModFix/>
          </a:blip>
          <a:srcRect/>
          <a:stretch/>
        </p:blipFill>
        <p:spPr>
          <a:xfrm>
            <a:off x="4918025" y="2481411"/>
            <a:ext cx="381000" cy="381000"/>
          </a:xfrm>
          <a:prstGeom prst="rect">
            <a:avLst/>
          </a:prstGeom>
          <a:noFill/>
          <a:ln>
            <a:noFill/>
          </a:ln>
        </p:spPr>
      </p:pic>
      <p:pic>
        <p:nvPicPr>
          <p:cNvPr id="146" name="Google Shape;146;p16" descr="image.png"/>
          <p:cNvPicPr preferRelativeResize="0"/>
          <p:nvPr/>
        </p:nvPicPr>
        <p:blipFill rotWithShape="1">
          <a:blip r:embed="rId11">
            <a:alphaModFix/>
          </a:blip>
          <a:srcRect/>
          <a:stretch/>
        </p:blipFill>
        <p:spPr>
          <a:xfrm>
            <a:off x="8745438" y="2386161"/>
            <a:ext cx="333375" cy="381000"/>
          </a:xfrm>
          <a:prstGeom prst="rect">
            <a:avLst/>
          </a:prstGeom>
          <a:noFill/>
          <a:ln>
            <a:noFill/>
          </a:ln>
        </p:spPr>
      </p:pic>
      <p:sp>
        <p:nvSpPr>
          <p:cNvPr id="147" name="Google Shape;147;p16"/>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4ADE80"/>
                </a:solidFill>
                <a:latin typeface="Inter"/>
                <a:ea typeface="Inter"/>
                <a:cs typeface="Inter"/>
                <a:sym typeface="Inter"/>
              </a:rPr>
              <a:t>Selectable High-Precision Networks</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3" name="Google Shape;153;p17" descr="image.png"/>
          <p:cNvPicPr preferRelativeResize="0"/>
          <p:nvPr/>
        </p:nvPicPr>
        <p:blipFill rotWithShape="1">
          <a:blip r:embed="rId4">
            <a:alphaModFix/>
          </a:blip>
          <a:srcRect/>
          <a:stretch/>
        </p:blipFill>
        <p:spPr>
          <a:xfrm>
            <a:off x="581025" y="1223664"/>
            <a:ext cx="5276850" cy="5306169"/>
          </a:xfrm>
          <a:prstGeom prst="rect">
            <a:avLst/>
          </a:prstGeom>
          <a:noFill/>
          <a:ln>
            <a:noFill/>
          </a:ln>
        </p:spPr>
      </p:pic>
      <p:pic>
        <p:nvPicPr>
          <p:cNvPr id="154" name="Google Shape;154;p17" descr="image.png"/>
          <p:cNvPicPr preferRelativeResize="0"/>
          <p:nvPr/>
        </p:nvPicPr>
        <p:blipFill rotWithShape="1">
          <a:blip r:embed="rId5">
            <a:alphaModFix/>
          </a:blip>
          <a:srcRect/>
          <a:stretch/>
        </p:blipFill>
        <p:spPr>
          <a:xfrm>
            <a:off x="6334125" y="1223664"/>
            <a:ext cx="5276850" cy="3810000"/>
          </a:xfrm>
          <a:prstGeom prst="rect">
            <a:avLst/>
          </a:prstGeom>
          <a:noFill/>
          <a:ln>
            <a:noFill/>
          </a:ln>
        </p:spPr>
      </p:pic>
      <p:sp>
        <p:nvSpPr>
          <p:cNvPr id="155" name="Google Shape;155;p17"/>
          <p:cNvSpPr txBox="1"/>
          <p:nvPr/>
        </p:nvSpPr>
        <p:spPr>
          <a:xfrm>
            <a:off x="1209675" y="1614189"/>
            <a:ext cx="4257675"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Dataset &amp; Scope:</a:t>
            </a:r>
            <a:r>
              <a:rPr lang="en-US" sz="1425" b="0" i="0" u="none" strike="noStrike" cap="none">
                <a:solidFill>
                  <a:srgbClr val="A3B8A8"/>
                </a:solidFill>
                <a:latin typeface="Inter"/>
                <a:ea typeface="Inter"/>
                <a:cs typeface="Inter"/>
                <a:sym typeface="Inter"/>
              </a:rPr>
              <a:t> Trained on a massive dataset across 38 diverse plant and disease categories.</a:t>
            </a:r>
            <a:endParaRPr/>
          </a:p>
        </p:txBody>
      </p:sp>
      <p:sp>
        <p:nvSpPr>
          <p:cNvPr id="156" name="Google Shape;156;p17"/>
          <p:cNvSpPr txBox="1"/>
          <p:nvPr/>
        </p:nvSpPr>
        <p:spPr>
          <a:xfrm>
            <a:off x="1209675" y="2383631"/>
            <a:ext cx="42576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Advanced Augmentation:</a:t>
            </a:r>
            <a:r>
              <a:rPr lang="en-US" sz="1425" b="0" i="0" u="none" strike="noStrike" cap="none">
                <a:solidFill>
                  <a:srgbClr val="A3B8A8"/>
                </a:solidFill>
                <a:latin typeface="Inter"/>
                <a:ea typeface="Inter"/>
                <a:cs typeface="Inter"/>
                <a:sym typeface="Inter"/>
              </a:rPr>
              <a:t> Utilizes horizontal/vertical flips, aggressive rotation, and color jitter to simulate real-world, outdoor lighting and shadows.</a:t>
            </a:r>
            <a:endParaRPr/>
          </a:p>
        </p:txBody>
      </p:sp>
      <p:sp>
        <p:nvSpPr>
          <p:cNvPr id="157" name="Google Shape;157;p17"/>
          <p:cNvSpPr txBox="1"/>
          <p:nvPr/>
        </p:nvSpPr>
        <p:spPr>
          <a:xfrm>
            <a:off x="1209675" y="3732014"/>
            <a:ext cx="42576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Full Fine-Tuning:</a:t>
            </a:r>
            <a:r>
              <a:rPr lang="en-US" sz="1425" b="0" i="0" u="none" strike="noStrike" cap="none">
                <a:solidFill>
                  <a:srgbClr val="A3B8A8"/>
                </a:solidFill>
                <a:latin typeface="Inter"/>
                <a:ea typeface="Inter"/>
                <a:cs typeface="Inter"/>
                <a:sym typeface="Inter"/>
              </a:rPr>
              <a:t> Unfrozen EfficientNetV2-S base weights with a custom, high-dropout classification head for profound pattern recognition.</a:t>
            </a:r>
            <a:endParaRPr/>
          </a:p>
        </p:txBody>
      </p:sp>
      <p:sp>
        <p:nvSpPr>
          <p:cNvPr id="158" name="Google Shape;158;p17"/>
          <p:cNvSpPr txBox="1"/>
          <p:nvPr/>
        </p:nvSpPr>
        <p:spPr>
          <a:xfrm>
            <a:off x="1209675" y="5080396"/>
            <a:ext cx="42576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FFFFF"/>
                </a:solidFill>
                <a:latin typeface="Inter"/>
                <a:ea typeface="Inter"/>
                <a:cs typeface="Inter"/>
                <a:sym typeface="Inter"/>
              </a:rPr>
              <a:t>Hardware Acceleration:</a:t>
            </a:r>
            <a:r>
              <a:rPr lang="en-US" sz="1425" b="0" i="0" u="none" strike="noStrike" cap="none">
                <a:solidFill>
                  <a:srgbClr val="A3B8A8"/>
                </a:solidFill>
                <a:latin typeface="Inter"/>
                <a:ea typeface="Inter"/>
                <a:cs typeface="Inter"/>
                <a:sym typeface="Inter"/>
              </a:rPr>
              <a:t> Trained using Automatic Mixed Precision (AMP) for optimized gradient scaling and memory efficiency.</a:t>
            </a:r>
            <a:endParaRPr/>
          </a:p>
        </p:txBody>
      </p:sp>
      <p:pic>
        <p:nvPicPr>
          <p:cNvPr id="159" name="Google Shape;159;p17" descr="image.png"/>
          <p:cNvPicPr preferRelativeResize="0"/>
          <p:nvPr/>
        </p:nvPicPr>
        <p:blipFill rotWithShape="1">
          <a:blip r:embed="rId6">
            <a:alphaModFix/>
          </a:blip>
          <a:srcRect/>
          <a:stretch/>
        </p:blipFill>
        <p:spPr>
          <a:xfrm>
            <a:off x="6343650" y="1233189"/>
            <a:ext cx="5257800" cy="3790950"/>
          </a:xfrm>
          <a:prstGeom prst="rect">
            <a:avLst/>
          </a:prstGeom>
          <a:noFill/>
          <a:ln>
            <a:noFill/>
          </a:ln>
        </p:spPr>
      </p:pic>
      <p:sp>
        <p:nvSpPr>
          <p:cNvPr id="160" name="Google Shape;160;p17"/>
          <p:cNvSpPr txBox="1"/>
          <p:nvPr/>
        </p:nvSpPr>
        <p:spPr>
          <a:xfrm>
            <a:off x="971550" y="1576089"/>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61" name="Google Shape;161;p17"/>
          <p:cNvSpPr txBox="1"/>
          <p:nvPr/>
        </p:nvSpPr>
        <p:spPr>
          <a:xfrm>
            <a:off x="971550" y="2345531"/>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62" name="Google Shape;162;p17"/>
          <p:cNvSpPr txBox="1"/>
          <p:nvPr/>
        </p:nvSpPr>
        <p:spPr>
          <a:xfrm>
            <a:off x="971550" y="3693914"/>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63" name="Google Shape;163;p17"/>
          <p:cNvSpPr txBox="1"/>
          <p:nvPr/>
        </p:nvSpPr>
        <p:spPr>
          <a:xfrm>
            <a:off x="971550" y="5042296"/>
            <a:ext cx="13335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4ADE80"/>
                </a:solidFill>
                <a:latin typeface="Inter"/>
                <a:ea typeface="Inter"/>
                <a:cs typeface="Inter"/>
                <a:sym typeface="Inter"/>
              </a:rPr>
              <a:t>•</a:t>
            </a:r>
            <a:endParaRPr/>
          </a:p>
        </p:txBody>
      </p:sp>
      <p:sp>
        <p:nvSpPr>
          <p:cNvPr id="164" name="Google Shape;164;p17"/>
          <p:cNvSpPr txBox="1"/>
          <p:nvPr/>
        </p:nvSpPr>
        <p:spPr>
          <a:xfrm>
            <a:off x="581025" y="328314"/>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4ADE80"/>
                </a:solidFill>
                <a:latin typeface="Inter"/>
                <a:ea typeface="Inter"/>
                <a:cs typeface="Inter"/>
                <a:sym typeface="Inter"/>
              </a:rPr>
              <a:t>Achieving 99.6% Accuracy</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0" name="Google Shape;170;p18" descr="image.png"/>
          <p:cNvPicPr preferRelativeResize="0"/>
          <p:nvPr/>
        </p:nvPicPr>
        <p:blipFill rotWithShape="1">
          <a:blip r:embed="rId4">
            <a:alphaModFix/>
          </a:blip>
          <a:srcRect/>
          <a:stretch/>
        </p:blipFill>
        <p:spPr>
          <a:xfrm>
            <a:off x="581025" y="2041475"/>
            <a:ext cx="5276850" cy="3670399"/>
          </a:xfrm>
          <a:prstGeom prst="rect">
            <a:avLst/>
          </a:prstGeom>
          <a:noFill/>
          <a:ln>
            <a:noFill/>
          </a:ln>
        </p:spPr>
      </p:pic>
      <p:pic>
        <p:nvPicPr>
          <p:cNvPr id="171" name="Google Shape;171;p18" descr="image.png"/>
          <p:cNvPicPr preferRelativeResize="0"/>
          <p:nvPr/>
        </p:nvPicPr>
        <p:blipFill rotWithShape="1">
          <a:blip r:embed="rId5">
            <a:alphaModFix/>
          </a:blip>
          <a:srcRect/>
          <a:stretch/>
        </p:blipFill>
        <p:spPr>
          <a:xfrm>
            <a:off x="6334125" y="2041475"/>
            <a:ext cx="5276850" cy="3670399"/>
          </a:xfrm>
          <a:prstGeom prst="rect">
            <a:avLst/>
          </a:prstGeom>
          <a:noFill/>
          <a:ln>
            <a:noFill/>
          </a:ln>
        </p:spPr>
      </p:pic>
      <p:sp>
        <p:nvSpPr>
          <p:cNvPr id="172" name="Google Shape;172;p18"/>
          <p:cNvSpPr txBox="1"/>
          <p:nvPr/>
        </p:nvSpPr>
        <p:spPr>
          <a:xfrm>
            <a:off x="971550" y="3003500"/>
            <a:ext cx="472059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Local LLM Integration</a:t>
            </a:r>
            <a:endParaRPr/>
          </a:p>
        </p:txBody>
      </p:sp>
      <p:sp>
        <p:nvSpPr>
          <p:cNvPr id="173" name="Google Shape;173;p18"/>
          <p:cNvSpPr txBox="1"/>
          <p:nvPr/>
        </p:nvSpPr>
        <p:spPr>
          <a:xfrm>
            <a:off x="971550" y="3441650"/>
            <a:ext cx="4495800" cy="173682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Powered by the highly capable </a:t>
            </a:r>
            <a:r>
              <a:rPr lang="en-US" sz="1425" b="1" i="0" u="none" strike="noStrike" cap="none">
                <a:solidFill>
                  <a:srgbClr val="FFFFFF"/>
                </a:solidFill>
                <a:latin typeface="Inter"/>
                <a:ea typeface="Inter"/>
                <a:cs typeface="Inter"/>
                <a:sym typeface="Inter"/>
              </a:rPr>
              <a:t>google/gemma-3-4b</a:t>
            </a:r>
            <a:r>
              <a:rPr lang="en-US" sz="1425" b="0" i="0" u="none" strike="noStrike" cap="none">
                <a:solidFill>
                  <a:srgbClr val="A3B8A8"/>
                </a:solidFill>
                <a:latin typeface="Inter"/>
                <a:ea typeface="Inter"/>
                <a:cs typeface="Inter"/>
                <a:sym typeface="Inter"/>
              </a:rPr>
              <a:t> model via a dedicated local endpoint. The system is context-aware and automatically triggers a deep analysis when a non-healthy plant is diagnosed, ensuring immediate and relevant guidance.</a:t>
            </a:r>
            <a:endParaRPr/>
          </a:p>
        </p:txBody>
      </p:sp>
      <p:sp>
        <p:nvSpPr>
          <p:cNvPr id="174" name="Google Shape;174;p18"/>
          <p:cNvSpPr txBox="1"/>
          <p:nvPr/>
        </p:nvSpPr>
        <p:spPr>
          <a:xfrm>
            <a:off x="6724650" y="3003500"/>
            <a:ext cx="472059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FFFFFF"/>
                </a:solidFill>
                <a:latin typeface="Inter SemiBold"/>
                <a:ea typeface="Inter SemiBold"/>
                <a:cs typeface="Inter SemiBold"/>
                <a:sym typeface="Inter SemiBold"/>
              </a:rPr>
              <a:t>Structured Output</a:t>
            </a:r>
            <a:endParaRPr/>
          </a:p>
        </p:txBody>
      </p:sp>
      <p:sp>
        <p:nvSpPr>
          <p:cNvPr id="175" name="Google Shape;175;p18"/>
          <p:cNvSpPr txBox="1"/>
          <p:nvPr/>
        </p:nvSpPr>
        <p:spPr>
          <a:xfrm>
            <a:off x="6724650" y="3441650"/>
            <a:ext cx="4495800"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A3B8A8"/>
                </a:solidFill>
                <a:latin typeface="Inter"/>
                <a:ea typeface="Inter"/>
                <a:cs typeface="Inter"/>
                <a:sym typeface="Inter"/>
              </a:rPr>
              <a:t>Strictly enforced prompt engineering guarantees precision formatting. The AI reliably outputs exactly two concise prevention tactics and two cure tactics without conversational filler, making it instantly actionable for the end user.</a:t>
            </a:r>
            <a:endParaRPr/>
          </a:p>
        </p:txBody>
      </p:sp>
      <p:pic>
        <p:nvPicPr>
          <p:cNvPr id="176" name="Google Shape;176;p18" descr="image.png"/>
          <p:cNvPicPr preferRelativeResize="0"/>
          <p:nvPr/>
        </p:nvPicPr>
        <p:blipFill rotWithShape="1">
          <a:blip r:embed="rId6">
            <a:alphaModFix/>
          </a:blip>
          <a:srcRect/>
          <a:stretch/>
        </p:blipFill>
        <p:spPr>
          <a:xfrm>
            <a:off x="971550" y="2432000"/>
            <a:ext cx="381000" cy="381000"/>
          </a:xfrm>
          <a:prstGeom prst="rect">
            <a:avLst/>
          </a:prstGeom>
          <a:noFill/>
          <a:ln>
            <a:noFill/>
          </a:ln>
        </p:spPr>
      </p:pic>
      <p:pic>
        <p:nvPicPr>
          <p:cNvPr id="177" name="Google Shape;177;p18" descr="image.png"/>
          <p:cNvPicPr preferRelativeResize="0"/>
          <p:nvPr/>
        </p:nvPicPr>
        <p:blipFill rotWithShape="1">
          <a:blip r:embed="rId7">
            <a:alphaModFix/>
          </a:blip>
          <a:srcRect/>
          <a:stretch/>
        </p:blipFill>
        <p:spPr>
          <a:xfrm>
            <a:off x="6724650" y="2432000"/>
            <a:ext cx="381000" cy="381000"/>
          </a:xfrm>
          <a:prstGeom prst="rect">
            <a:avLst/>
          </a:prstGeom>
          <a:noFill/>
          <a:ln>
            <a:noFill/>
          </a:ln>
        </p:spPr>
      </p:pic>
      <p:sp>
        <p:nvSpPr>
          <p:cNvPr id="178" name="Google Shape;178;p18"/>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4ADE80"/>
                </a:solidFill>
                <a:latin typeface="Inter"/>
                <a:ea typeface="Inter"/>
                <a:cs typeface="Inter"/>
                <a:sym typeface="Inter"/>
              </a:rPr>
              <a:t>Actionable Generative AI Guidance</a:t>
            </a: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4" name="Google Shape;184;p19" descr="image.png"/>
          <p:cNvPicPr preferRelativeResize="0"/>
          <p:nvPr/>
        </p:nvPicPr>
        <p:blipFill rotWithShape="1">
          <a:blip r:embed="rId4">
            <a:alphaModFix/>
          </a:blip>
          <a:srcRect/>
          <a:stretch/>
        </p:blipFill>
        <p:spPr>
          <a:xfrm>
            <a:off x="4667250" y="4526160"/>
            <a:ext cx="2857500" cy="676275"/>
          </a:xfrm>
          <a:prstGeom prst="rect">
            <a:avLst/>
          </a:prstGeom>
          <a:noFill/>
          <a:ln>
            <a:noFill/>
          </a:ln>
        </p:spPr>
      </p:pic>
      <p:sp>
        <p:nvSpPr>
          <p:cNvPr id="185" name="Google Shape;185;p19"/>
          <p:cNvSpPr txBox="1"/>
          <p:nvPr/>
        </p:nvSpPr>
        <p:spPr>
          <a:xfrm>
            <a:off x="305276" y="2703165"/>
            <a:ext cx="11581447"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FFFFF"/>
                </a:solidFill>
                <a:latin typeface="Inter"/>
                <a:ea typeface="Inter"/>
                <a:cs typeface="Inter"/>
                <a:sym typeface="Inter"/>
              </a:rPr>
              <a:t>Bridging Vision and Intelligence</a:t>
            </a:r>
            <a:endParaRPr/>
          </a:p>
        </p:txBody>
      </p:sp>
      <p:sp>
        <p:nvSpPr>
          <p:cNvPr id="186" name="Google Shape;186;p19"/>
          <p:cNvSpPr txBox="1"/>
          <p:nvPr/>
        </p:nvSpPr>
        <p:spPr>
          <a:xfrm>
            <a:off x="581025" y="3541365"/>
            <a:ext cx="110299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A3B8A8"/>
                </a:solidFill>
                <a:latin typeface="Inter"/>
                <a:ea typeface="Inter"/>
                <a:cs typeface="Inter"/>
                <a:sym typeface="Inter"/>
              </a:rPr>
              <a:t>From raw agricultural data to a sub-1% error rate computer vision pipeline.</a:t>
            </a:r>
            <a:endParaRPr/>
          </a:p>
        </p:txBody>
      </p:sp>
      <p:pic>
        <p:nvPicPr>
          <p:cNvPr id="187" name="Google Shape;187;p19" descr="image.png"/>
          <p:cNvPicPr preferRelativeResize="0"/>
          <p:nvPr/>
        </p:nvPicPr>
        <p:blipFill rotWithShape="1">
          <a:blip r:embed="rId5">
            <a:alphaModFix/>
          </a:blip>
          <a:srcRect/>
          <a:stretch/>
        </p:blipFill>
        <p:spPr>
          <a:xfrm>
            <a:off x="5810250" y="1655415"/>
            <a:ext cx="571500" cy="5715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Widescreen</PresentationFormat>
  <Paragraphs>42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Inter SemiBold</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Alyster Benedict</cp:lastModifiedBy>
  <cp:revision>1</cp:revision>
  <dcterms:modified xsi:type="dcterms:W3CDTF">2026-03-20T11:24:33Z</dcterms:modified>
</cp:coreProperties>
</file>